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5"/>
  </p:notesMasterIdLst>
  <p:sldIdLst>
    <p:sldId id="256" r:id="rId2"/>
    <p:sldId id="257" r:id="rId3"/>
    <p:sldId id="258" r:id="rId4"/>
    <p:sldId id="259" r:id="rId5"/>
    <p:sldId id="260" r:id="rId6"/>
    <p:sldId id="261" r:id="rId7"/>
    <p:sldId id="265" r:id="rId8"/>
    <p:sldId id="262" r:id="rId9"/>
    <p:sldId id="264" r:id="rId10"/>
    <p:sldId id="266" r:id="rId11"/>
    <p:sldId id="267" r:id="rId12"/>
    <p:sldId id="268" r:id="rId13"/>
    <p:sldId id="269"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A7F7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75"/>
    <p:restoredTop sz="94737"/>
  </p:normalViewPr>
  <p:slideViewPr>
    <p:cSldViewPr snapToGrid="0" snapToObjects="1">
      <p:cViewPr varScale="1">
        <p:scale>
          <a:sx n="85" d="100"/>
          <a:sy n="85" d="100"/>
        </p:scale>
        <p:origin x="152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3E99CD-0B05-6F4D-899C-5CB41F6F1B7E}" type="datetimeFigureOut">
              <a:rPr lang="en-US" smtClean="0"/>
              <a:t>12/5/25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B4E883-F4A6-A34C-92A5-50B77CED79B5}" type="slidenum">
              <a:rPr lang="en-US" smtClean="0"/>
              <a:t>‹#›</a:t>
            </a:fld>
            <a:endParaRPr lang="en-US"/>
          </a:p>
        </p:txBody>
      </p:sp>
    </p:spTree>
    <p:extLst>
      <p:ext uri="{BB962C8B-B14F-4D97-AF65-F5344CB8AC3E}">
        <p14:creationId xmlns:p14="http://schemas.microsoft.com/office/powerpoint/2010/main" val="3656790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B4E883-F4A6-A34C-92A5-50B77CED79B5}" type="slidenum">
              <a:rPr lang="en-US" smtClean="0"/>
              <a:t>1</a:t>
            </a:fld>
            <a:endParaRPr lang="en-US"/>
          </a:p>
        </p:txBody>
      </p:sp>
    </p:spTree>
    <p:extLst>
      <p:ext uri="{BB962C8B-B14F-4D97-AF65-F5344CB8AC3E}">
        <p14:creationId xmlns:p14="http://schemas.microsoft.com/office/powerpoint/2010/main" val="2534914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36346" y="1788454"/>
            <a:ext cx="6270922" cy="2098226"/>
          </a:xfrm>
        </p:spPr>
        <p:txBody>
          <a:bodyPr anchor="b">
            <a:noAutofit/>
          </a:bodyPr>
          <a:lstStyle>
            <a:lvl1pPr algn="ctr">
              <a:defRPr sz="60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009930" y="3956280"/>
            <a:ext cx="5123755" cy="1086237"/>
          </a:xfrm>
        </p:spPr>
        <p:txBody>
          <a:bodyPr>
            <a:normAutofit/>
          </a:bodyPr>
          <a:lstStyle>
            <a:lvl1pPr marL="0" indent="0" algn="ctr">
              <a:lnSpc>
                <a:spcPct val="112000"/>
              </a:lnSpc>
              <a:spcBef>
                <a:spcPts val="0"/>
              </a:spcBef>
              <a:spcAft>
                <a:spcPts val="0"/>
              </a:spcAft>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564644" y="6453386"/>
            <a:ext cx="1205958" cy="404614"/>
          </a:xfrm>
        </p:spPr>
        <p:txBody>
          <a:bodyPr/>
          <a:lstStyle>
            <a:lvl1pPr>
              <a:defRPr baseline="0">
                <a:solidFill>
                  <a:schemeClr val="tx2"/>
                </a:solidFill>
              </a:defRPr>
            </a:lvl1pPr>
          </a:lstStyle>
          <a:p>
            <a:fld id="{5BCAD085-E8A6-8845-BD4E-CB4CCA059FC4}" type="datetimeFigureOut">
              <a:rPr lang="en-US" smtClean="0"/>
              <a:t>12/5/25</a:t>
            </a:fld>
            <a:endParaRPr lang="en-US"/>
          </a:p>
        </p:txBody>
      </p:sp>
      <p:sp>
        <p:nvSpPr>
          <p:cNvPr id="5" name="Footer Placeholder 4"/>
          <p:cNvSpPr>
            <a:spLocks noGrp="1"/>
          </p:cNvSpPr>
          <p:nvPr>
            <p:ph type="ftr" sz="quarter" idx="11"/>
          </p:nvPr>
        </p:nvSpPr>
        <p:spPr>
          <a:xfrm>
            <a:off x="1938041" y="6453386"/>
            <a:ext cx="5267533"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7373012" y="6453386"/>
            <a:ext cx="1197219" cy="404614"/>
          </a:xfrm>
        </p:spPr>
        <p:txBody>
          <a:bodyPr/>
          <a:lstStyle>
            <a:lvl1pPr>
              <a:defRPr baseline="0">
                <a:solidFill>
                  <a:schemeClr val="tx2"/>
                </a:solidFill>
              </a:defRPr>
            </a:lvl1pPr>
          </a:lstStyle>
          <a:p>
            <a:fld id="{C1FF6DA9-008F-8B48-92A6-B652298478BF}" type="slidenum">
              <a:rPr lang="en-US" smtClean="0"/>
              <a:t>‹#›</a:t>
            </a:fld>
            <a:endParaRPr lang="en-US"/>
          </a:p>
        </p:txBody>
      </p:sp>
      <p:grpSp>
        <p:nvGrpSpPr>
          <p:cNvPr id="8" name="Group 7"/>
          <p:cNvGrpSpPr/>
          <p:nvPr/>
        </p:nvGrpSpPr>
        <p:grpSpPr>
          <a:xfrm>
            <a:off x="564643" y="744469"/>
            <a:ext cx="8005589" cy="5349671"/>
            <a:chOff x="564643" y="744469"/>
            <a:chExt cx="8005589" cy="5349671"/>
          </a:xfrm>
        </p:grpSpPr>
        <p:sp>
          <p:nvSpPr>
            <p:cNvPr id="11" name="Freeform 6"/>
            <p:cNvSpPr/>
            <p:nvPr/>
          </p:nvSpPr>
          <p:spPr bwMode="auto">
            <a:xfrm>
              <a:off x="6113972" y="1685652"/>
              <a:ext cx="2456260" cy="4408488"/>
            </a:xfrm>
            <a:custGeom>
              <a:avLst/>
              <a:gdLst/>
              <a:ahLst/>
              <a:cxnLst/>
              <a:rect l="l" t="t" r="r" b="b"/>
              <a:pathLst>
                <a:path w="10000" h="10000">
                  <a:moveTo>
                    <a:pt x="8761" y="0"/>
                  </a:moveTo>
                  <a:lnTo>
                    <a:pt x="10000" y="0"/>
                  </a:lnTo>
                  <a:lnTo>
                    <a:pt x="10000" y="10000"/>
                  </a:lnTo>
                  <a:lnTo>
                    <a:pt x="0" y="10000"/>
                  </a:lnTo>
                  <a:lnTo>
                    <a:pt x="0" y="9357"/>
                  </a:lnTo>
                  <a:lnTo>
                    <a:pt x="8761" y="935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564643" y="744469"/>
              <a:ext cx="2456505" cy="4408488"/>
            </a:xfrm>
            <a:custGeom>
              <a:avLst/>
              <a:gdLst/>
              <a:ahLst/>
              <a:cxnLst/>
              <a:rect l="l" t="t" r="r" b="b"/>
              <a:pathLst>
                <a:path w="10001" h="10000">
                  <a:moveTo>
                    <a:pt x="8762" y="0"/>
                  </a:moveTo>
                  <a:lnTo>
                    <a:pt x="10001" y="0"/>
                  </a:lnTo>
                  <a:lnTo>
                    <a:pt x="10001" y="10000"/>
                  </a:lnTo>
                  <a:lnTo>
                    <a:pt x="1" y="10000"/>
                  </a:lnTo>
                  <a:cubicBezTo>
                    <a:pt x="-2" y="9766"/>
                    <a:pt x="4" y="9586"/>
                    <a:pt x="1" y="9352"/>
                  </a:cubicBezTo>
                  <a:lnTo>
                    <a:pt x="8762" y="9346"/>
                  </a:lnTo>
                  <a:lnTo>
                    <a:pt x="8762"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2781889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00091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3769" y="1301361"/>
            <a:ext cx="7209728" cy="2852737"/>
          </a:xfrm>
        </p:spPr>
        <p:txBody>
          <a:bodyPr anchor="b">
            <a:normAutofit/>
          </a:bodyPr>
          <a:lstStyle>
            <a:lvl1pPr algn="r">
              <a:defRPr sz="60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573769" y="4216328"/>
            <a:ext cx="7209728" cy="1143324"/>
          </a:xfrm>
        </p:spPr>
        <p:txBody>
          <a:bodyPr/>
          <a:lstStyle>
            <a:lvl1pPr marL="0" indent="0" algn="r">
              <a:lnSpc>
                <a:spcPct val="112000"/>
              </a:lnSpc>
              <a:spcBef>
                <a:spcPts val="0"/>
              </a:spcBef>
              <a:spcAft>
                <a:spcPts val="0"/>
              </a:spcAft>
              <a:buNone/>
              <a:defRPr sz="1800">
                <a:solidFill>
                  <a:schemeClr val="tx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4181" y="6453386"/>
            <a:ext cx="1216807" cy="404614"/>
          </a:xfrm>
        </p:spPr>
        <p:txBody>
          <a:bodyPr/>
          <a:lstStyle>
            <a:lvl1pPr>
              <a:defRPr>
                <a:solidFill>
                  <a:schemeClr val="tx2"/>
                </a:solidFill>
              </a:defRPr>
            </a:lvl1pPr>
          </a:lstStyle>
          <a:p>
            <a:fld id="{5BCAD085-E8A6-8845-BD4E-CB4CCA059FC4}" type="datetimeFigureOut">
              <a:rPr lang="en-US" smtClean="0"/>
              <a:t>12/5/25</a:t>
            </a:fld>
            <a:endParaRPr lang="en-US"/>
          </a:p>
        </p:txBody>
      </p:sp>
      <p:sp>
        <p:nvSpPr>
          <p:cNvPr id="5" name="Footer Placeholder 4"/>
          <p:cNvSpPr>
            <a:spLocks noGrp="1"/>
          </p:cNvSpPr>
          <p:nvPr>
            <p:ph type="ftr" sz="quarter" idx="11"/>
          </p:nvPr>
        </p:nvSpPr>
        <p:spPr>
          <a:xfrm>
            <a:off x="1938234" y="6453386"/>
            <a:ext cx="5267533"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7373012" y="6453386"/>
            <a:ext cx="1197219" cy="404614"/>
          </a:xfrm>
        </p:spPr>
        <p:txBody>
          <a:bodyPr/>
          <a:lstStyle>
            <a:lvl1pPr>
              <a:defRPr>
                <a:solidFill>
                  <a:schemeClr val="tx2"/>
                </a:solidFill>
              </a:defRPr>
            </a:lvl1pPr>
          </a:lstStyle>
          <a:p>
            <a:fld id="{C1FF6DA9-008F-8B48-92A6-B652298478BF}" type="slidenum">
              <a:rPr lang="en-US" smtClean="0"/>
              <a:t>‹#›</a:t>
            </a:fld>
            <a:endParaRPr lang="en-US"/>
          </a:p>
        </p:txBody>
      </p:sp>
      <p:sp>
        <p:nvSpPr>
          <p:cNvPr id="7" name="Freeform 6"/>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bg2"/>
          </a:solidFill>
          <a:ln w="0">
            <a:noFill/>
            <a:prstDash val="solid"/>
            <a:round/>
            <a:headEnd/>
            <a:tailEnd/>
          </a:ln>
        </p:spPr>
      </p:sp>
      <p:sp>
        <p:nvSpPr>
          <p:cNvPr id="8" name="Freeform 7" title="Crop Mark"/>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15766988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028700" y="2286000"/>
            <a:ext cx="3335840"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94052" y="2286000"/>
            <a:ext cx="3335840"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80930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28700" y="2340230"/>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28700" y="3305208"/>
            <a:ext cx="3335839"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93760" y="2349754"/>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93760" y="3305208"/>
            <a:ext cx="3335840"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31556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09367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15793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Autofit/>
          </a:bodyPr>
          <a:lstStyle>
            <a:lvl1pPr>
              <a:lnSpc>
                <a:spcPct val="84000"/>
              </a:lnSpc>
              <a:defRPr sz="44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4692015" y="685801"/>
            <a:ext cx="3909060" cy="5175250"/>
          </a:xfrm>
        </p:spPr>
        <p:txBody>
          <a:bodyPr/>
          <a:lstStyle>
            <a:lvl1pPr>
              <a:defRPr sz="1500"/>
            </a:lvl1pPr>
            <a:lvl2pPr>
              <a:defRPr sz="1500"/>
            </a:lvl2pPr>
            <a:lvl3pPr>
              <a:defRPr sz="1350"/>
            </a:lvl3pPr>
            <a:lvl4pPr>
              <a:defRPr sz="135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42925" y="2856344"/>
            <a:ext cx="2891790" cy="3011056"/>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5BCAD085-E8A6-8845-BD4E-CB4CCA059FC4}" type="datetimeFigureOut">
              <a:rPr lang="en-US" smtClean="0"/>
              <a:t>12/5/25</a:t>
            </a:fld>
            <a:endParaRPr lang="en-US"/>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C1FF6DA9-008F-8B48-92A6-B652298478BF}" type="slidenum">
              <a:rPr lang="en-US" smtClean="0"/>
              <a:t>‹#›</a:t>
            </a:fld>
            <a:endParaRPr lang="en-US"/>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64861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rmAutofit/>
          </a:bodyPr>
          <a:lstStyle>
            <a:lvl1pPr>
              <a:lnSpc>
                <a:spcPct val="84000"/>
              </a:lnSpc>
              <a:defRPr sz="44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4149090" y="1"/>
            <a:ext cx="4994910" cy="6857999"/>
          </a:xfrm>
        </p:spPr>
        <p:txBody>
          <a:bodyPr anchor="t">
            <a:normAutofit/>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42925" y="2855968"/>
            <a:ext cx="2891790" cy="3011432"/>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5BCAD085-E8A6-8845-BD4E-CB4CCA059FC4}" type="datetimeFigureOut">
              <a:rPr lang="en-US" smtClean="0"/>
              <a:t>12/5/25</a:t>
            </a:fld>
            <a:endParaRPr lang="en-US"/>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C1FF6DA9-008F-8B48-92A6-B652298478BF}" type="slidenum">
              <a:rPr lang="en-US" smtClean="0"/>
              <a:t>‹#›</a:t>
            </a:fld>
            <a:endParaRPr lang="en-US"/>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1548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028700" y="2295526"/>
            <a:ext cx="72009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20006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0797" y="624156"/>
            <a:ext cx="1490950"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28700" y="624156"/>
            <a:ext cx="5724525"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58184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8700" y="685800"/>
            <a:ext cx="72009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28700" y="2286000"/>
            <a:ext cx="72009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42987" y="6453386"/>
            <a:ext cx="903429" cy="404614"/>
          </a:xfrm>
          <a:prstGeom prst="rect">
            <a:avLst/>
          </a:prstGeom>
        </p:spPr>
        <p:txBody>
          <a:bodyPr vert="horz" lIns="91440" tIns="45720" rIns="91440" bIns="45720" rtlCol="0" anchor="ctr"/>
          <a:lstStyle>
            <a:lvl1pPr algn="l">
              <a:defRPr sz="1000" baseline="0">
                <a:solidFill>
                  <a:schemeClr val="tx2"/>
                </a:solidFill>
              </a:defRPr>
            </a:lvl1pPr>
          </a:lstStyle>
          <a:p>
            <a:fld id="{5BCAD085-E8A6-8845-BD4E-CB4CCA059FC4}" type="datetimeFigureOut">
              <a:rPr lang="en-US" smtClean="0"/>
              <a:t>12/5/25</a:t>
            </a:fld>
            <a:endParaRPr lang="en-US"/>
          </a:p>
        </p:txBody>
      </p:sp>
      <p:sp>
        <p:nvSpPr>
          <p:cNvPr id="5" name="Footer Placeholder 4"/>
          <p:cNvSpPr>
            <a:spLocks noGrp="1"/>
          </p:cNvSpPr>
          <p:nvPr>
            <p:ph type="ftr" sz="quarter" idx="3"/>
          </p:nvPr>
        </p:nvSpPr>
        <p:spPr>
          <a:xfrm>
            <a:off x="2170173" y="6453386"/>
            <a:ext cx="4710623" cy="404614"/>
          </a:xfrm>
          <a:prstGeom prst="rect">
            <a:avLst/>
          </a:prstGeom>
        </p:spPr>
        <p:txBody>
          <a:bodyPr vert="horz" lIns="91440" tIns="45720" rIns="91440" bIns="45720" rtlCol="0" anchor="ctr"/>
          <a:lstStyle>
            <a:lvl1pPr algn="l">
              <a:defRPr sz="1000" baseline="0">
                <a:solidFill>
                  <a:schemeClr val="tx2"/>
                </a:solidFill>
              </a:defRPr>
            </a:lvl1pPr>
          </a:lstStyle>
          <a:p>
            <a:endParaRPr lang="en-US"/>
          </a:p>
        </p:txBody>
      </p:sp>
      <p:sp>
        <p:nvSpPr>
          <p:cNvPr id="6" name="Slide Number Placeholder 5"/>
          <p:cNvSpPr>
            <a:spLocks noGrp="1"/>
          </p:cNvSpPr>
          <p:nvPr>
            <p:ph type="sldNum" sz="quarter" idx="4"/>
          </p:nvPr>
        </p:nvSpPr>
        <p:spPr>
          <a:xfrm>
            <a:off x="7104552" y="6453386"/>
            <a:ext cx="1197219" cy="404614"/>
          </a:xfrm>
          <a:prstGeom prst="rect">
            <a:avLst/>
          </a:prstGeom>
        </p:spPr>
        <p:txBody>
          <a:bodyPr vert="horz" lIns="91440" tIns="45720" rIns="91440" bIns="45720" rtlCol="0" anchor="ctr"/>
          <a:lstStyle>
            <a:lvl1pPr algn="r">
              <a:defRPr sz="1000" baseline="0">
                <a:solidFill>
                  <a:schemeClr val="tx2"/>
                </a:solidFill>
              </a:defRPr>
            </a:lvl1pPr>
          </a:lstStyle>
          <a:p>
            <a:fld id="{C1FF6DA9-008F-8B48-92A6-B652298478BF}" type="slidenum">
              <a:rPr lang="en-US" smtClean="0"/>
              <a:t>‹#›</a:t>
            </a:fld>
            <a:endParaRPr lang="en-US"/>
          </a:p>
        </p:txBody>
      </p:sp>
      <p:sp>
        <p:nvSpPr>
          <p:cNvPr id="9" name="Rectangle 8"/>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title="Side bar"/>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422036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1368">
          <p15:clr>
            <a:srgbClr val="F26B43"/>
          </p15:clr>
        </p15:guide>
        <p15:guide id="1" pos="6912">
          <p15:clr>
            <a:srgbClr val="F26B43"/>
          </p15:clr>
        </p15:guide>
        <p15:guide id="2" pos="936">
          <p15:clr>
            <a:srgbClr val="F26B43"/>
          </p15:clr>
        </p15:guide>
        <p15:guide id="3" pos="864">
          <p15:clr>
            <a:srgbClr val="F26B43"/>
          </p15:clr>
        </p15:guide>
        <p15:guide id="4" orient="horz" pos="1440">
          <p15:clr>
            <a:srgbClr val="F26B43"/>
          </p15:clr>
        </p15:guide>
        <p15:guide id="5" orient="horz" pos="3696">
          <p15:clr>
            <a:srgbClr val="F26B43"/>
          </p15:clr>
        </p15:guide>
        <p15:guide id="6" orient="horz" pos="432">
          <p15:clr>
            <a:srgbClr val="F26B43"/>
          </p15:clr>
        </p15:guide>
        <p15:guide id="7" orient="horz" pos="1512">
          <p15:clr>
            <a:srgbClr val="F26B43"/>
          </p15:clr>
        </p15:guide>
        <p15:guide id="8" pos="5184">
          <p15:clr>
            <a:srgbClr val="F26B43"/>
          </p15:clr>
        </p15:guide>
        <p15:guide id="9" pos="702">
          <p15:clr>
            <a:srgbClr val="F26B43"/>
          </p15:clr>
        </p15:guide>
        <p15:guide id="10" pos="6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www.qsmarte.com/"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mailto:ali.alsinayyid@wvstateu.edu"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1950720"/>
          </a:xfrm>
        </p:spPr>
        <p:txBody>
          <a:bodyPr>
            <a:normAutofit fontScale="90000"/>
          </a:bodyPr>
          <a:lstStyle/>
          <a:p>
            <a:pPr algn="ctr"/>
            <a:r>
              <a:rPr lang="en-US" b="1" dirty="0">
                <a:latin typeface="Bangla MN" pitchFamily="2" charset="0"/>
                <a:cs typeface="Bangla MN" pitchFamily="2" charset="0"/>
              </a:rPr>
              <a:t>Detection of Identity Theft in Critical Sectors: A Comprehensive Review</a:t>
            </a:r>
            <a:endParaRPr b="1" dirty="0">
              <a:latin typeface="Bangla MN" pitchFamily="2" charset="0"/>
              <a:cs typeface="Bangla MN" pitchFamily="2" charset="0"/>
            </a:endParaRPr>
          </a:p>
        </p:txBody>
      </p:sp>
      <p:sp>
        <p:nvSpPr>
          <p:cNvPr id="3" name="Content Placeholder 2"/>
          <p:cNvSpPr>
            <a:spLocks noGrp="1"/>
          </p:cNvSpPr>
          <p:nvPr>
            <p:ph idx="1"/>
          </p:nvPr>
        </p:nvSpPr>
        <p:spPr>
          <a:xfrm>
            <a:off x="685800" y="3185160"/>
            <a:ext cx="8183880" cy="2682240"/>
          </a:xfrm>
        </p:spPr>
        <p:txBody>
          <a:bodyPr/>
          <a:lstStyle/>
          <a:p>
            <a:pPr algn="ctr"/>
            <a:endParaRPr dirty="0"/>
          </a:p>
          <a:p>
            <a:pPr marL="0" indent="0" algn="ctr">
              <a:buNone/>
              <a:defRPr sz="2200"/>
            </a:pPr>
            <a:r>
              <a:rPr lang="en-US" b="1" dirty="0"/>
              <a:t>Authors</a:t>
            </a:r>
            <a:r>
              <a:rPr lang="en-US" b="1" dirty="0">
                <a:latin typeface="Bangla MN" pitchFamily="2" charset="0"/>
                <a:cs typeface="Bangla MN" pitchFamily="2" charset="0"/>
              </a:rPr>
              <a:t>: Shikhar Pandey,  Dr Ali Al-</a:t>
            </a:r>
            <a:r>
              <a:rPr lang="en-US" b="1" dirty="0" err="1">
                <a:latin typeface="Bangla MN" pitchFamily="2" charset="0"/>
                <a:cs typeface="Bangla MN" pitchFamily="2" charset="0"/>
              </a:rPr>
              <a:t>Sinayyid</a:t>
            </a:r>
            <a:r>
              <a:rPr lang="en-US" dirty="0"/>
              <a:t>, et al.</a:t>
            </a:r>
            <a:br>
              <a:rPr lang="en-US" dirty="0"/>
            </a:br>
            <a:r>
              <a:rPr lang="en-US" b="1" dirty="0"/>
              <a:t>Affiliation:</a:t>
            </a:r>
            <a:r>
              <a:rPr lang="en-US" dirty="0"/>
              <a:t> West Virginia State University</a:t>
            </a:r>
          </a:p>
          <a:p>
            <a:pPr marL="0" indent="0" algn="ctr">
              <a:buNone/>
              <a:defRPr sz="2200"/>
            </a:pPr>
            <a:r>
              <a:rPr lang="en-US" b="1" u="sng" dirty="0">
                <a:latin typeface="Bangla MN" pitchFamily="2" charset="0"/>
                <a:cs typeface="Bangla MN" pitchFamily="2" charset="0"/>
              </a:rPr>
              <a:t>CYBERSECURITY INNOVATION CENTER </a:t>
            </a:r>
            <a:endParaRPr b="1" u="sng" dirty="0">
              <a:latin typeface="Bangla MN" pitchFamily="2" charset="0"/>
              <a:cs typeface="Bangla MN" pitchFamily="2" charset="0"/>
            </a:endParaRPr>
          </a:p>
        </p:txBody>
      </p:sp>
      <p:pic>
        <p:nvPicPr>
          <p:cNvPr id="5" name="Picture 2" descr="Google Cybersecurity Clinics Fund">
            <a:extLst>
              <a:ext uri="{FF2B5EF4-FFF2-40B4-BE49-F238E27FC236}">
                <a16:creationId xmlns:a16="http://schemas.microsoft.com/office/drawing/2014/main" id="{0751F7F1-7BED-496D-246C-3A64A0B6B2D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487" t="27681" r="4152" b="22319"/>
          <a:stretch/>
        </p:blipFill>
        <p:spPr bwMode="auto">
          <a:xfrm>
            <a:off x="2072640" y="5074919"/>
            <a:ext cx="4739640" cy="13411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28700" y="1173480"/>
            <a:ext cx="7200900" cy="6705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fontScale="90000"/>
          </a:bodyPr>
          <a:lstStyle/>
          <a:p>
            <a:pPr algn="ctr"/>
            <a:r>
              <a:rPr b="1" dirty="0">
                <a:latin typeface="Bangla MN" pitchFamily="2" charset="0"/>
                <a:cs typeface="Bangla MN" pitchFamily="2" charset="0"/>
              </a:rPr>
              <a:t>Introduction</a:t>
            </a:r>
          </a:p>
        </p:txBody>
      </p:sp>
      <p:sp>
        <p:nvSpPr>
          <p:cNvPr id="3" name="Content Placeholder 2"/>
          <p:cNvSpPr>
            <a:spLocks noGrp="1"/>
          </p:cNvSpPr>
          <p:nvPr>
            <p:ph idx="1"/>
          </p:nvPr>
        </p:nvSpPr>
        <p:spPr/>
        <p:txBody>
          <a:bodyPr/>
          <a:lstStyle/>
          <a:p>
            <a:endParaRPr dirty="0"/>
          </a:p>
          <a:p>
            <a:pPr>
              <a:defRPr sz="2200"/>
            </a:pPr>
            <a:r>
              <a:rPr lang="en-US" dirty="0"/>
              <a:t>WHAT IS IDENTITY THEFT?</a:t>
            </a:r>
            <a:endParaRPr dirty="0"/>
          </a:p>
          <a:p>
            <a:pPr>
              <a:defRPr sz="2200"/>
            </a:pPr>
            <a:r>
              <a:rPr lang="en-US" dirty="0"/>
              <a:t>WHICH PLACES ARE TARGETED (CRITICAL SECTOR).</a:t>
            </a:r>
            <a:endParaRPr dirty="0"/>
          </a:p>
          <a:p>
            <a:pPr>
              <a:defRPr sz="2200"/>
            </a:pPr>
            <a:r>
              <a:rPr lang="en-US" dirty="0"/>
              <a:t>WHAT MOTIVATE ME TO DO THIS RESEARCH?</a:t>
            </a:r>
            <a:endParaRPr dirty="0"/>
          </a:p>
        </p:txBody>
      </p:sp>
      <p:pic>
        <p:nvPicPr>
          <p:cNvPr id="5" name="Picture 2" descr="Google Cybersecurity Clinics Fund">
            <a:extLst>
              <a:ext uri="{FF2B5EF4-FFF2-40B4-BE49-F238E27FC236}">
                <a16:creationId xmlns:a16="http://schemas.microsoft.com/office/drawing/2014/main" id="{E8BDFC35-7DAF-5D2D-6B5D-57A038BDBC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487" t="27681" r="4152" b="22319"/>
          <a:stretch/>
        </p:blipFill>
        <p:spPr bwMode="auto">
          <a:xfrm>
            <a:off x="2072640" y="5074919"/>
            <a:ext cx="4739640" cy="13411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28700" y="1112520"/>
            <a:ext cx="7200900" cy="1059180"/>
          </a:xfrm>
        </p:spPr>
        <p:txBody>
          <a:bodyPr/>
          <a:lstStyle/>
          <a:p>
            <a:pPr algn="ctr"/>
            <a:r>
              <a:rPr lang="en-US" b="1" dirty="0">
                <a:latin typeface="Bangla MN" pitchFamily="2" charset="0"/>
                <a:cs typeface="Bangla MN" pitchFamily="2" charset="0"/>
              </a:rPr>
              <a:t>The Core Problem</a:t>
            </a:r>
            <a:endParaRPr b="1" u="sng" dirty="0">
              <a:latin typeface="Bangla MN" pitchFamily="2" charset="0"/>
              <a:cs typeface="Bangla MN" pitchFamily="2" charset="0"/>
            </a:endParaRPr>
          </a:p>
        </p:txBody>
      </p:sp>
      <p:sp>
        <p:nvSpPr>
          <p:cNvPr id="3" name="Content Placeholder 2"/>
          <p:cNvSpPr>
            <a:spLocks noGrp="1"/>
          </p:cNvSpPr>
          <p:nvPr>
            <p:ph idx="1"/>
          </p:nvPr>
        </p:nvSpPr>
        <p:spPr/>
        <p:txBody>
          <a:bodyPr/>
          <a:lstStyle/>
          <a:p>
            <a:endParaRPr dirty="0"/>
          </a:p>
          <a:p>
            <a:pPr>
              <a:defRPr sz="2200"/>
            </a:pPr>
            <a:r>
              <a:rPr dirty="0"/>
              <a:t>Traditional detection methods are weak.</a:t>
            </a:r>
          </a:p>
          <a:p>
            <a:pPr>
              <a:defRPr sz="2200"/>
            </a:pPr>
            <a:r>
              <a:rPr lang="en-US" dirty="0"/>
              <a:t>Many states are heavily affected AND in high risk</a:t>
            </a:r>
            <a:r>
              <a:rPr dirty="0"/>
              <a:t>.</a:t>
            </a:r>
          </a:p>
          <a:p>
            <a:pPr>
              <a:defRPr sz="2200"/>
            </a:pPr>
            <a:r>
              <a:rPr lang="en-US" dirty="0"/>
              <a:t>Influence of AI and Modern Technology</a:t>
            </a:r>
            <a:r>
              <a:rPr dirty="0"/>
              <a:t>.</a:t>
            </a:r>
          </a:p>
          <a:p>
            <a:pPr>
              <a:defRPr sz="2200"/>
            </a:pPr>
            <a:r>
              <a:rPr lang="en-US" dirty="0"/>
              <a:t>Critic</a:t>
            </a:r>
            <a:r>
              <a:rPr dirty="0"/>
              <a:t>al sectors need </a:t>
            </a:r>
            <a:r>
              <a:rPr lang="en-US" dirty="0"/>
              <a:t>enhanced </a:t>
            </a:r>
            <a:r>
              <a:rPr dirty="0"/>
              <a:t>real‑time detection.</a:t>
            </a:r>
          </a:p>
        </p:txBody>
      </p:sp>
      <p:pic>
        <p:nvPicPr>
          <p:cNvPr id="4" name="Picture 2" descr="Google Cybersecurity Clinics Fund">
            <a:extLst>
              <a:ext uri="{FF2B5EF4-FFF2-40B4-BE49-F238E27FC236}">
                <a16:creationId xmlns:a16="http://schemas.microsoft.com/office/drawing/2014/main" id="{33BE6166-ED26-55AD-D315-5A1BA7A1E0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487" t="27681" r="4152" b="22319"/>
          <a:stretch/>
        </p:blipFill>
        <p:spPr bwMode="auto">
          <a:xfrm>
            <a:off x="2072640" y="5074919"/>
            <a:ext cx="4739640" cy="13411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28700" y="990600"/>
            <a:ext cx="7200900" cy="1181100"/>
          </a:xfrm>
          <a:blipFill>
            <a:blip r:embed="rId2"/>
            <a:tile tx="0" ty="0" sx="100000" sy="100000" flip="none" algn="tl"/>
          </a:blipFill>
        </p:spPr>
        <p:txBody>
          <a:bodyPr/>
          <a:lstStyle/>
          <a:p>
            <a:pPr algn="ctr"/>
            <a:r>
              <a:rPr lang="en-US" b="1" dirty="0">
                <a:latin typeface="Bangla MN" pitchFamily="2" charset="0"/>
                <a:cs typeface="Bangla MN" pitchFamily="2" charset="0"/>
              </a:rPr>
              <a:t>Current Gap </a:t>
            </a:r>
            <a:endParaRPr b="1" dirty="0">
              <a:latin typeface="Bangla MN" pitchFamily="2" charset="0"/>
              <a:cs typeface="Bangla MN" pitchFamily="2" charset="0"/>
            </a:endParaRPr>
          </a:p>
        </p:txBody>
      </p:sp>
      <p:sp>
        <p:nvSpPr>
          <p:cNvPr id="3" name="Content Placeholder 2"/>
          <p:cNvSpPr>
            <a:spLocks noGrp="1"/>
          </p:cNvSpPr>
          <p:nvPr>
            <p:ph idx="1"/>
          </p:nvPr>
        </p:nvSpPr>
        <p:spPr/>
        <p:txBody>
          <a:bodyPr/>
          <a:lstStyle/>
          <a:p>
            <a:endParaRPr dirty="0"/>
          </a:p>
          <a:p>
            <a:pPr>
              <a:defRPr sz="2200"/>
            </a:pPr>
            <a:r>
              <a:rPr lang="en-US" dirty="0"/>
              <a:t>Most studies focus on big financial sectors and large institutions.</a:t>
            </a:r>
            <a:r>
              <a:rPr dirty="0"/>
              <a:t>.</a:t>
            </a:r>
          </a:p>
          <a:p>
            <a:pPr>
              <a:defRPr sz="2200"/>
            </a:pPr>
            <a:r>
              <a:rPr lang="en-US" dirty="0"/>
              <a:t>Many people are </a:t>
            </a:r>
            <a:r>
              <a:rPr lang="en-US" b="1" dirty="0"/>
              <a:t>unaware</a:t>
            </a:r>
            <a:r>
              <a:rPr lang="en-US" dirty="0"/>
              <a:t> of basic online safety practices</a:t>
            </a:r>
          </a:p>
          <a:p>
            <a:pPr>
              <a:defRPr sz="2200"/>
            </a:pPr>
            <a:r>
              <a:rPr lang="en-US" dirty="0"/>
              <a:t>There is a </a:t>
            </a:r>
            <a:r>
              <a:rPr lang="en-US" b="1" dirty="0"/>
              <a:t>lack of studies</a:t>
            </a:r>
            <a:r>
              <a:rPr lang="en-US" dirty="0"/>
              <a:t> on how everyday people become targets through small, daily interactions</a:t>
            </a:r>
            <a:r>
              <a:rPr dirty="0"/>
              <a:t>.</a:t>
            </a:r>
          </a:p>
        </p:txBody>
      </p:sp>
      <p:pic>
        <p:nvPicPr>
          <p:cNvPr id="5" name="Picture 2" descr="Google Cybersecurity Clinics Fund">
            <a:extLst>
              <a:ext uri="{FF2B5EF4-FFF2-40B4-BE49-F238E27FC236}">
                <a16:creationId xmlns:a16="http://schemas.microsoft.com/office/drawing/2014/main" id="{072DAE08-3E91-BFCE-57B7-EAB032CB26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487" t="27681" r="4152" b="22319"/>
          <a:stretch/>
        </p:blipFill>
        <p:spPr bwMode="auto">
          <a:xfrm>
            <a:off x="2072640" y="5074919"/>
            <a:ext cx="4739640" cy="13411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28700" y="990600"/>
            <a:ext cx="7200900" cy="1181100"/>
          </a:xfrm>
        </p:spPr>
        <p:txBody>
          <a:bodyPr/>
          <a:lstStyle/>
          <a:p>
            <a:pPr algn="ctr"/>
            <a:r>
              <a:rPr b="1" dirty="0">
                <a:latin typeface="Bangla MN" pitchFamily="2" charset="0"/>
                <a:cs typeface="Bangla MN" pitchFamily="2" charset="0"/>
              </a:rPr>
              <a:t>Research Objectives</a:t>
            </a:r>
          </a:p>
        </p:txBody>
      </p:sp>
      <p:sp>
        <p:nvSpPr>
          <p:cNvPr id="3" name="Content Placeholder 2"/>
          <p:cNvSpPr>
            <a:spLocks noGrp="1"/>
          </p:cNvSpPr>
          <p:nvPr>
            <p:ph idx="1"/>
          </p:nvPr>
        </p:nvSpPr>
        <p:spPr>
          <a:xfrm>
            <a:off x="1028700" y="2636520"/>
            <a:ext cx="7200900" cy="3230880"/>
          </a:xfrm>
        </p:spPr>
        <p:txBody>
          <a:bodyPr/>
          <a:lstStyle/>
          <a:p>
            <a:r>
              <a:rPr lang="en-US" dirty="0"/>
              <a:t>To review existing identity theft detection techniques.</a:t>
            </a:r>
          </a:p>
          <a:p>
            <a:r>
              <a:rPr lang="en-US" dirty="0"/>
              <a:t>Compare how well different methods work.</a:t>
            </a:r>
          </a:p>
          <a:p>
            <a:r>
              <a:rPr lang="en-US" dirty="0"/>
              <a:t>Find strengths and weaknesses of current approaches.</a:t>
            </a:r>
          </a:p>
          <a:p>
            <a:r>
              <a:rPr lang="en-US" dirty="0"/>
              <a:t>To propose future directions for stronger detection systems.</a:t>
            </a:r>
          </a:p>
          <a:p>
            <a:pPr marL="0" indent="0">
              <a:buNone/>
            </a:pPr>
            <a:endParaRPr dirty="0"/>
          </a:p>
        </p:txBody>
      </p:sp>
      <p:pic>
        <p:nvPicPr>
          <p:cNvPr id="5" name="Picture 2" descr="Google Cybersecurity Clinics Fund">
            <a:extLst>
              <a:ext uri="{FF2B5EF4-FFF2-40B4-BE49-F238E27FC236}">
                <a16:creationId xmlns:a16="http://schemas.microsoft.com/office/drawing/2014/main" id="{9D2749E5-D86D-C812-390F-B85AD3EC89C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487" t="27681" r="4152" b="22319"/>
          <a:stretch/>
        </p:blipFill>
        <p:spPr bwMode="auto">
          <a:xfrm>
            <a:off x="2072640" y="5074919"/>
            <a:ext cx="4739640" cy="13411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28700" y="990600"/>
            <a:ext cx="7200900" cy="1181100"/>
          </a:xfrm>
        </p:spPr>
        <p:txBody>
          <a:bodyPr/>
          <a:lstStyle/>
          <a:p>
            <a:pPr algn="ctr"/>
            <a:r>
              <a:rPr b="1" dirty="0">
                <a:latin typeface="Bangla MN" pitchFamily="2" charset="0"/>
                <a:cs typeface="Bangla MN" pitchFamily="2" charset="0"/>
              </a:rPr>
              <a:t>Methodology</a:t>
            </a:r>
          </a:p>
        </p:txBody>
      </p:sp>
      <p:sp>
        <p:nvSpPr>
          <p:cNvPr id="3" name="Content Placeholder 2"/>
          <p:cNvSpPr>
            <a:spLocks noGrp="1"/>
          </p:cNvSpPr>
          <p:nvPr>
            <p:ph idx="1"/>
          </p:nvPr>
        </p:nvSpPr>
        <p:spPr/>
        <p:txBody>
          <a:bodyPr/>
          <a:lstStyle/>
          <a:p>
            <a:endParaRPr dirty="0"/>
          </a:p>
          <a:p>
            <a:pPr>
              <a:defRPr sz="2200"/>
            </a:pPr>
            <a:r>
              <a:rPr lang="en-US" dirty="0"/>
              <a:t>Analyzed a wide range of previous research studies</a:t>
            </a:r>
            <a:r>
              <a:rPr dirty="0"/>
              <a:t>.</a:t>
            </a:r>
          </a:p>
          <a:p>
            <a:pPr>
              <a:defRPr sz="2200"/>
            </a:pPr>
            <a:r>
              <a:rPr lang="en-US" b="1" dirty="0"/>
              <a:t>Examined the datasets used</a:t>
            </a:r>
            <a:r>
              <a:rPr lang="en-US" dirty="0"/>
              <a:t> in these studies</a:t>
            </a:r>
            <a:r>
              <a:rPr dirty="0"/>
              <a:t>.</a:t>
            </a:r>
          </a:p>
          <a:p>
            <a:pPr>
              <a:defRPr sz="2200"/>
            </a:pPr>
            <a:r>
              <a:rPr lang="en-US" b="1" dirty="0"/>
              <a:t>Evaluated the proposed algorithms</a:t>
            </a:r>
            <a:r>
              <a:rPr lang="en-US" dirty="0"/>
              <a:t> based on accuracy and other matrix</a:t>
            </a:r>
            <a:r>
              <a:rPr dirty="0"/>
              <a:t>.</a:t>
            </a:r>
          </a:p>
          <a:p>
            <a:pPr>
              <a:defRPr sz="2200"/>
            </a:pPr>
            <a:r>
              <a:rPr lang="en-US" dirty="0"/>
              <a:t>Analyzed the targeted sectors and attack types</a:t>
            </a:r>
            <a:r>
              <a:rPr dirty="0"/>
              <a:t>.</a:t>
            </a:r>
          </a:p>
        </p:txBody>
      </p:sp>
      <p:pic>
        <p:nvPicPr>
          <p:cNvPr id="4" name="Picture 2" descr="Google Cybersecurity Clinics Fund">
            <a:extLst>
              <a:ext uri="{FF2B5EF4-FFF2-40B4-BE49-F238E27FC236}">
                <a16:creationId xmlns:a16="http://schemas.microsoft.com/office/drawing/2014/main" id="{1FA8539B-E0B0-3CA2-83BB-3FE4643BF95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487" t="27681" r="4152" b="22319"/>
          <a:stretch/>
        </p:blipFill>
        <p:spPr bwMode="auto">
          <a:xfrm>
            <a:off x="2072640" y="5074919"/>
            <a:ext cx="4739640" cy="13411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0E7EA-F2B0-FD1D-6341-E0662275B5C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4141C89-252B-B4DE-2D85-2323B673D512}"/>
              </a:ext>
            </a:extLst>
          </p:cNvPr>
          <p:cNvPicPr>
            <a:picLocks noGrp="1" noChangeAspect="1"/>
          </p:cNvPicPr>
          <p:nvPr>
            <p:ph idx="1"/>
          </p:nvPr>
        </p:nvPicPr>
        <p:blipFill rotWithShape="1">
          <a:blip r:embed="rId3"/>
          <a:srcRect l="36164" t="15551" r="4137" b="27363"/>
          <a:stretch/>
        </p:blipFill>
        <p:spPr>
          <a:xfrm>
            <a:off x="243840" y="472440"/>
            <a:ext cx="8702040" cy="6019800"/>
          </a:xfrm>
        </p:spPr>
      </p:pic>
    </p:spTree>
    <p:extLst>
      <p:ext uri="{BB962C8B-B14F-4D97-AF65-F5344CB8AC3E}">
        <p14:creationId xmlns:p14="http://schemas.microsoft.com/office/powerpoint/2010/main" val="3993548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28700" y="1203960"/>
            <a:ext cx="7200900" cy="967740"/>
          </a:xfrm>
        </p:spPr>
        <p:txBody>
          <a:bodyPr/>
          <a:lstStyle/>
          <a:p>
            <a:pPr algn="ctr"/>
            <a:r>
              <a:rPr lang="en-US" b="1" dirty="0">
                <a:latin typeface="Bangla MN" pitchFamily="2" charset="0"/>
                <a:cs typeface="Bangla MN" pitchFamily="2" charset="0"/>
              </a:rPr>
              <a:t>Key Finding</a:t>
            </a:r>
            <a:endParaRPr b="1" dirty="0">
              <a:latin typeface="Bangla MN" pitchFamily="2" charset="0"/>
              <a:cs typeface="Bangla MN" pitchFamily="2" charset="0"/>
            </a:endParaRPr>
          </a:p>
        </p:txBody>
      </p:sp>
      <p:sp>
        <p:nvSpPr>
          <p:cNvPr id="3" name="Content Placeholder 2"/>
          <p:cNvSpPr>
            <a:spLocks noGrp="1"/>
          </p:cNvSpPr>
          <p:nvPr>
            <p:ph idx="1"/>
          </p:nvPr>
        </p:nvSpPr>
        <p:spPr/>
        <p:txBody>
          <a:bodyPr/>
          <a:lstStyle/>
          <a:p>
            <a:r>
              <a:rPr lang="en-US" dirty="0"/>
              <a:t>GNN = highest accuracy &amp; sensitivity</a:t>
            </a:r>
          </a:p>
          <a:p>
            <a:r>
              <a:rPr lang="en-US" dirty="0"/>
              <a:t>SVM/RF = best precision</a:t>
            </a:r>
          </a:p>
          <a:p>
            <a:r>
              <a:rPr lang="en-US" dirty="0"/>
              <a:t>Deep Learning = good for sequence detection but high computation</a:t>
            </a:r>
          </a:p>
          <a:p>
            <a:r>
              <a:rPr lang="en-US" dirty="0"/>
              <a:t>Targeted sectors = financial most attacked, followed by government</a:t>
            </a:r>
          </a:p>
          <a:p>
            <a:r>
              <a:rPr lang="en-US" dirty="0"/>
              <a:t>Government sector = weak security, vulnerable to attacks</a:t>
            </a:r>
          </a:p>
          <a:p>
            <a:endParaRPr lang="en-US" dirty="0"/>
          </a:p>
        </p:txBody>
      </p:sp>
      <p:pic>
        <p:nvPicPr>
          <p:cNvPr id="5" name="Picture 2" descr="Google Cybersecurity Clinics Fund">
            <a:extLst>
              <a:ext uri="{FF2B5EF4-FFF2-40B4-BE49-F238E27FC236}">
                <a16:creationId xmlns:a16="http://schemas.microsoft.com/office/drawing/2014/main" id="{7FAAC420-CF70-A629-6711-16E25BBEF7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487" t="27681" r="4152" b="22319"/>
          <a:stretch/>
        </p:blipFill>
        <p:spPr bwMode="auto">
          <a:xfrm>
            <a:off x="2072640" y="5074919"/>
            <a:ext cx="4739640" cy="13411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b="1" dirty="0">
                <a:latin typeface="Bangla MN" pitchFamily="2" charset="0"/>
                <a:cs typeface="Bangla MN" pitchFamily="2" charset="0"/>
              </a:rPr>
              <a:t>Conclusion</a:t>
            </a:r>
          </a:p>
        </p:txBody>
      </p:sp>
      <p:sp>
        <p:nvSpPr>
          <p:cNvPr id="3" name="Content Placeholder 2"/>
          <p:cNvSpPr>
            <a:spLocks noGrp="1"/>
          </p:cNvSpPr>
          <p:nvPr>
            <p:ph idx="1"/>
          </p:nvPr>
        </p:nvSpPr>
        <p:spPr/>
        <p:txBody>
          <a:bodyPr/>
          <a:lstStyle/>
          <a:p>
            <a:endParaRPr dirty="0"/>
          </a:p>
          <a:p>
            <a:pPr>
              <a:defRPr sz="2200"/>
            </a:pPr>
            <a:r>
              <a:rPr dirty="0"/>
              <a:t>No single best model.</a:t>
            </a:r>
          </a:p>
          <a:p>
            <a:pPr>
              <a:defRPr sz="2200"/>
            </a:pPr>
            <a:r>
              <a:rPr dirty="0"/>
              <a:t>Performance depends on sector &amp; attack.</a:t>
            </a:r>
          </a:p>
          <a:p>
            <a:pPr>
              <a:defRPr sz="2200"/>
            </a:pPr>
            <a:r>
              <a:rPr dirty="0"/>
              <a:t>Future: adaptive, real‑time systems.</a:t>
            </a:r>
          </a:p>
        </p:txBody>
      </p:sp>
      <p:pic>
        <p:nvPicPr>
          <p:cNvPr id="4" name="Picture 2" descr="Google Cybersecurity Clinics Fund">
            <a:extLst>
              <a:ext uri="{FF2B5EF4-FFF2-40B4-BE49-F238E27FC236}">
                <a16:creationId xmlns:a16="http://schemas.microsoft.com/office/drawing/2014/main" id="{4057591A-23EB-CEAC-44AC-8A32BEEFC8D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487" t="27681" r="4152" b="22319"/>
          <a:stretch/>
        </p:blipFill>
        <p:spPr bwMode="auto">
          <a:xfrm>
            <a:off x="2072640" y="5074919"/>
            <a:ext cx="4739640" cy="13411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43716-89DD-7F4F-803B-BBD6ABBA8390}"/>
              </a:ext>
            </a:extLst>
          </p:cNvPr>
          <p:cNvSpPr>
            <a:spLocks noGrp="1"/>
          </p:cNvSpPr>
          <p:nvPr>
            <p:ph type="title"/>
          </p:nvPr>
        </p:nvSpPr>
        <p:spPr/>
        <p:txBody>
          <a:bodyPr/>
          <a:lstStyle/>
          <a:p>
            <a:pPr algn="ctr"/>
            <a:r>
              <a:rPr lang="en-US" b="1" dirty="0">
                <a:latin typeface="Bangla MN" pitchFamily="2" charset="0"/>
                <a:cs typeface="Bangla MN" pitchFamily="2" charset="0"/>
              </a:rPr>
              <a:t>CURENTLY FOCUS </a:t>
            </a:r>
          </a:p>
        </p:txBody>
      </p:sp>
      <p:sp>
        <p:nvSpPr>
          <p:cNvPr id="3" name="Content Placeholder 2">
            <a:extLst>
              <a:ext uri="{FF2B5EF4-FFF2-40B4-BE49-F238E27FC236}">
                <a16:creationId xmlns:a16="http://schemas.microsoft.com/office/drawing/2014/main" id="{EA235776-6642-DB8B-F670-D619694A1167}"/>
              </a:ext>
            </a:extLst>
          </p:cNvPr>
          <p:cNvSpPr>
            <a:spLocks noGrp="1"/>
          </p:cNvSpPr>
          <p:nvPr>
            <p:ph idx="1"/>
          </p:nvPr>
        </p:nvSpPr>
        <p:spPr/>
        <p:txBody>
          <a:bodyPr/>
          <a:lstStyle/>
          <a:p>
            <a:r>
              <a:rPr lang="en-US" b="1" dirty="0">
                <a:latin typeface="Bangla MN" pitchFamily="2" charset="0"/>
                <a:cs typeface="Bangla MN" pitchFamily="2" charset="0"/>
              </a:rPr>
              <a:t>Topological Data Analysis with Graph Neural Networks to detect complex and evolving identity theft threats that traditional machine learning methods often fail to identify, targeting both large sectors and local communities in real time By using Quants mathematical </a:t>
            </a:r>
            <a:r>
              <a:rPr lang="en-US" b="1" dirty="0" err="1">
                <a:latin typeface="Bangla MN" pitchFamily="2" charset="0"/>
                <a:cs typeface="Bangla MN" pitchFamily="2" charset="0"/>
              </a:rPr>
              <a:t>xmodel</a:t>
            </a:r>
            <a:r>
              <a:rPr lang="en-US" b="1" dirty="0">
                <a:latin typeface="Bangla MN" pitchFamily="2" charset="0"/>
                <a:cs typeface="Bangla MN" pitchFamily="2" charset="0"/>
              </a:rPr>
              <a:t>. </a:t>
            </a:r>
          </a:p>
        </p:txBody>
      </p:sp>
      <p:pic>
        <p:nvPicPr>
          <p:cNvPr id="4" name="Picture 2" descr="Google Cybersecurity Clinics Fund">
            <a:extLst>
              <a:ext uri="{FF2B5EF4-FFF2-40B4-BE49-F238E27FC236}">
                <a16:creationId xmlns:a16="http://schemas.microsoft.com/office/drawing/2014/main" id="{29C72731-A0AF-B617-5C6F-5B46934C0A1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487" t="27681" r="4152" b="22319"/>
          <a:stretch/>
        </p:blipFill>
        <p:spPr bwMode="auto">
          <a:xfrm>
            <a:off x="2072640" y="5074919"/>
            <a:ext cx="4739640" cy="1341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0754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BF89C-053A-F8BB-089A-30C4D104EC3C}"/>
              </a:ext>
            </a:extLst>
          </p:cNvPr>
          <p:cNvSpPr>
            <a:spLocks noGrp="1"/>
          </p:cNvSpPr>
          <p:nvPr>
            <p:ph type="title"/>
          </p:nvPr>
        </p:nvSpPr>
        <p:spPr/>
        <p:txBody>
          <a:bodyPr/>
          <a:lstStyle/>
          <a:p>
            <a:pPr algn="ctr"/>
            <a:endParaRPr lang="en-US" b="1" dirty="0">
              <a:latin typeface="Bangla MN" pitchFamily="2" charset="0"/>
              <a:cs typeface="Bangla MN" pitchFamily="2" charset="0"/>
            </a:endParaRPr>
          </a:p>
        </p:txBody>
      </p:sp>
      <p:pic>
        <p:nvPicPr>
          <p:cNvPr id="5" name="Content Placeholder 4">
            <a:extLst>
              <a:ext uri="{FF2B5EF4-FFF2-40B4-BE49-F238E27FC236}">
                <a16:creationId xmlns:a16="http://schemas.microsoft.com/office/drawing/2014/main" id="{D05E6AD0-4BE8-7541-F9D9-14DEDF042BB6}"/>
              </a:ext>
            </a:extLst>
          </p:cNvPr>
          <p:cNvPicPr>
            <a:picLocks noGrp="1" noChangeAspect="1"/>
          </p:cNvPicPr>
          <p:nvPr>
            <p:ph idx="1"/>
          </p:nvPr>
        </p:nvPicPr>
        <p:blipFill rotWithShape="1">
          <a:blip r:embed="rId3"/>
          <a:srcRect l="7446" t="15319" r="2660" b="19575"/>
          <a:stretch/>
        </p:blipFill>
        <p:spPr>
          <a:xfrm>
            <a:off x="262890" y="381000"/>
            <a:ext cx="8595360" cy="6096000"/>
          </a:xfrm>
        </p:spPr>
      </p:pic>
      <p:sp>
        <p:nvSpPr>
          <p:cNvPr id="6" name="TextBox 5">
            <a:extLst>
              <a:ext uri="{FF2B5EF4-FFF2-40B4-BE49-F238E27FC236}">
                <a16:creationId xmlns:a16="http://schemas.microsoft.com/office/drawing/2014/main" id="{C0F77558-4749-855F-4FE7-35ABBF45A79A}"/>
              </a:ext>
            </a:extLst>
          </p:cNvPr>
          <p:cNvSpPr txBox="1"/>
          <p:nvPr/>
        </p:nvSpPr>
        <p:spPr>
          <a:xfrm>
            <a:off x="1417320" y="3063240"/>
            <a:ext cx="6278880" cy="2677656"/>
          </a:xfrm>
          <a:prstGeom prst="rect">
            <a:avLst/>
          </a:prstGeom>
          <a:noFill/>
        </p:spPr>
        <p:txBody>
          <a:bodyPr wrap="square" rtlCol="0">
            <a:spAutoFit/>
          </a:bodyPr>
          <a:lstStyle/>
          <a:p>
            <a:pPr algn="ctr"/>
            <a:r>
              <a:rPr lang="en-US" sz="2400" b="1" dirty="0">
                <a:latin typeface="Bangla MN" pitchFamily="2" charset="0"/>
                <a:cs typeface="Bangla MN" pitchFamily="2" charset="0"/>
                <a:hlinkClick r:id="rId4"/>
              </a:rPr>
              <a:t>WWW.QSMARTE.COM</a:t>
            </a:r>
            <a:endParaRPr lang="en-US" sz="2400" b="1" dirty="0">
              <a:latin typeface="Bangla MN" pitchFamily="2" charset="0"/>
              <a:cs typeface="Bangla MN" pitchFamily="2" charset="0"/>
            </a:endParaRPr>
          </a:p>
          <a:p>
            <a:pPr algn="ctr"/>
            <a:endParaRPr lang="en-US" sz="2400" dirty="0"/>
          </a:p>
          <a:p>
            <a:pPr algn="ctr"/>
            <a:r>
              <a:rPr lang="en-US" sz="2400" b="1" dirty="0"/>
              <a:t>Q‑SMART‑E is a virtual 8-week program designed for recent high school graduates, mentoring them to undertake research projects in next-generation technologies like AI, cybersecurity, and quantum computing.</a:t>
            </a:r>
            <a:endParaRPr lang="en-US" sz="2400" b="1" dirty="0">
              <a:latin typeface="Bangla MN" pitchFamily="2" charset="0"/>
              <a:cs typeface="Bangla MN" pitchFamily="2" charset="0"/>
            </a:endParaRPr>
          </a:p>
        </p:txBody>
      </p:sp>
      <p:sp>
        <p:nvSpPr>
          <p:cNvPr id="7" name="TextBox 6">
            <a:extLst>
              <a:ext uri="{FF2B5EF4-FFF2-40B4-BE49-F238E27FC236}">
                <a16:creationId xmlns:a16="http://schemas.microsoft.com/office/drawing/2014/main" id="{4D55B765-FDFE-63A3-5BCA-549EACB4A45E}"/>
              </a:ext>
            </a:extLst>
          </p:cNvPr>
          <p:cNvSpPr txBox="1"/>
          <p:nvPr/>
        </p:nvSpPr>
        <p:spPr>
          <a:xfrm>
            <a:off x="2895600" y="5740896"/>
            <a:ext cx="4160520" cy="461665"/>
          </a:xfrm>
          <a:prstGeom prst="rect">
            <a:avLst/>
          </a:prstGeom>
          <a:noFill/>
        </p:spPr>
        <p:txBody>
          <a:bodyPr wrap="square" rtlCol="0">
            <a:spAutoFit/>
          </a:bodyPr>
          <a:lstStyle/>
          <a:p>
            <a:r>
              <a:rPr lang="en-US" sz="2400" b="1" dirty="0">
                <a:latin typeface="Bangla MN" pitchFamily="2" charset="0"/>
                <a:cs typeface="Bangla MN" pitchFamily="2" charset="0"/>
              </a:rPr>
              <a:t>MY CONTRIBUTION </a:t>
            </a:r>
          </a:p>
        </p:txBody>
      </p:sp>
    </p:spTree>
    <p:extLst>
      <p:ext uri="{BB962C8B-B14F-4D97-AF65-F5344CB8AC3E}">
        <p14:creationId xmlns:p14="http://schemas.microsoft.com/office/powerpoint/2010/main" val="389275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9E26B-4778-5073-9BE3-C8D06E4753BD}"/>
              </a:ext>
            </a:extLst>
          </p:cNvPr>
          <p:cNvSpPr>
            <a:spLocks noGrp="1"/>
          </p:cNvSpPr>
          <p:nvPr>
            <p:ph type="title"/>
          </p:nvPr>
        </p:nvSpPr>
        <p:spPr/>
        <p:txBody>
          <a:bodyPr/>
          <a:lstStyle/>
          <a:p>
            <a:pPr algn="ctr"/>
            <a:r>
              <a:rPr lang="en-US" b="1" dirty="0">
                <a:latin typeface="Bangla MN" pitchFamily="2" charset="0"/>
                <a:cs typeface="Bangla MN" pitchFamily="2" charset="0"/>
              </a:rPr>
              <a:t>For  Collaboration</a:t>
            </a:r>
          </a:p>
        </p:txBody>
      </p:sp>
      <p:pic>
        <p:nvPicPr>
          <p:cNvPr id="5" name="Content Placeholder 4">
            <a:extLst>
              <a:ext uri="{FF2B5EF4-FFF2-40B4-BE49-F238E27FC236}">
                <a16:creationId xmlns:a16="http://schemas.microsoft.com/office/drawing/2014/main" id="{9D4C141A-BFF7-C8EE-16E2-73664AC98E84}"/>
              </a:ext>
            </a:extLst>
          </p:cNvPr>
          <p:cNvPicPr>
            <a:picLocks noGrp="1" noChangeAspect="1"/>
          </p:cNvPicPr>
          <p:nvPr>
            <p:ph idx="1"/>
          </p:nvPr>
        </p:nvPicPr>
        <p:blipFill rotWithShape="1">
          <a:blip r:embed="rId3"/>
          <a:srcRect t="35126" r="1289"/>
          <a:stretch/>
        </p:blipFill>
        <p:spPr>
          <a:xfrm>
            <a:off x="1539241" y="1512570"/>
            <a:ext cx="5775960" cy="3124200"/>
          </a:xfrm>
        </p:spPr>
      </p:pic>
      <p:sp>
        <p:nvSpPr>
          <p:cNvPr id="8" name="TextBox 7">
            <a:extLst>
              <a:ext uri="{FF2B5EF4-FFF2-40B4-BE49-F238E27FC236}">
                <a16:creationId xmlns:a16="http://schemas.microsoft.com/office/drawing/2014/main" id="{71E15517-7A4A-DEA9-85FA-E04FAB8AAAC8}"/>
              </a:ext>
            </a:extLst>
          </p:cNvPr>
          <p:cNvSpPr txBox="1"/>
          <p:nvPr/>
        </p:nvSpPr>
        <p:spPr>
          <a:xfrm>
            <a:off x="2895600" y="4053841"/>
            <a:ext cx="3642360" cy="461665"/>
          </a:xfrm>
          <a:prstGeom prst="rect">
            <a:avLst/>
          </a:prstGeom>
          <a:noFill/>
        </p:spPr>
        <p:txBody>
          <a:bodyPr wrap="square" rtlCol="0">
            <a:spAutoFit/>
          </a:bodyPr>
          <a:lstStyle/>
          <a:p>
            <a:r>
              <a:rPr lang="en-US" sz="2400" b="1" dirty="0" err="1"/>
              <a:t>spandey@wvstateu.edu</a:t>
            </a:r>
            <a:endParaRPr lang="en-US" sz="2400" b="1" dirty="0"/>
          </a:p>
        </p:txBody>
      </p:sp>
      <p:sp>
        <p:nvSpPr>
          <p:cNvPr id="9" name="TextBox 8">
            <a:extLst>
              <a:ext uri="{FF2B5EF4-FFF2-40B4-BE49-F238E27FC236}">
                <a16:creationId xmlns:a16="http://schemas.microsoft.com/office/drawing/2014/main" id="{76105B07-163A-644E-FE9C-86E5C596C3CE}"/>
              </a:ext>
            </a:extLst>
          </p:cNvPr>
          <p:cNvSpPr txBox="1"/>
          <p:nvPr/>
        </p:nvSpPr>
        <p:spPr>
          <a:xfrm>
            <a:off x="1341120" y="4953000"/>
            <a:ext cx="6568440" cy="461665"/>
          </a:xfrm>
          <a:prstGeom prst="rect">
            <a:avLst/>
          </a:prstGeom>
          <a:noFill/>
        </p:spPr>
        <p:txBody>
          <a:bodyPr wrap="square" rtlCol="0">
            <a:spAutoFit/>
          </a:bodyPr>
          <a:lstStyle/>
          <a:p>
            <a:r>
              <a:rPr lang="en-US" sz="2400" b="1" dirty="0">
                <a:latin typeface="Bangla MN" pitchFamily="2" charset="0"/>
                <a:cs typeface="Bangla MN" pitchFamily="2" charset="0"/>
              </a:rPr>
              <a:t>Comments / Suggestions / Questions </a:t>
            </a:r>
          </a:p>
        </p:txBody>
      </p:sp>
      <p:pic>
        <p:nvPicPr>
          <p:cNvPr id="10" name="Picture 2" descr="Google Cybersecurity Clinics Fund">
            <a:extLst>
              <a:ext uri="{FF2B5EF4-FFF2-40B4-BE49-F238E27FC236}">
                <a16:creationId xmlns:a16="http://schemas.microsoft.com/office/drawing/2014/main" id="{3DE0CC15-FCF7-880C-250B-6F61E009178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487" t="27681" r="4152" b="22319"/>
          <a:stretch/>
        </p:blipFill>
        <p:spPr bwMode="auto">
          <a:xfrm>
            <a:off x="2575561" y="5414665"/>
            <a:ext cx="4739640" cy="1341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4132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AB513-CA96-F2EF-0642-A3C9ABF54B58}"/>
              </a:ext>
            </a:extLst>
          </p:cNvPr>
          <p:cNvSpPr>
            <a:spLocks noGrp="1"/>
          </p:cNvSpPr>
          <p:nvPr>
            <p:ph type="title"/>
          </p:nvPr>
        </p:nvSpPr>
        <p:spPr/>
        <p:txBody>
          <a:bodyPr/>
          <a:lstStyle/>
          <a:p>
            <a:pPr algn="ctr"/>
            <a:r>
              <a:rPr lang="en-US" b="1" dirty="0">
                <a:latin typeface="Bangla MN" pitchFamily="2" charset="0"/>
                <a:cs typeface="Bangla MN" pitchFamily="2" charset="0"/>
              </a:rPr>
              <a:t>THANK YOU </a:t>
            </a:r>
          </a:p>
        </p:txBody>
      </p:sp>
      <p:pic>
        <p:nvPicPr>
          <p:cNvPr id="1026" name="Picture 2" descr="Google Cybersecurity Clinics Fund">
            <a:extLst>
              <a:ext uri="{FF2B5EF4-FFF2-40B4-BE49-F238E27FC236}">
                <a16:creationId xmlns:a16="http://schemas.microsoft.com/office/drawing/2014/main" id="{939CC010-8A75-F8D5-7D31-45C3CCFCCBA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291590" y="1428750"/>
            <a:ext cx="6675120" cy="37380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1FD0420-EC65-620F-03FE-FD2699A6A548}"/>
              </a:ext>
            </a:extLst>
          </p:cNvPr>
          <p:cNvSpPr txBox="1"/>
          <p:nvPr/>
        </p:nvSpPr>
        <p:spPr>
          <a:xfrm>
            <a:off x="1291590" y="4191000"/>
            <a:ext cx="3128010" cy="954107"/>
          </a:xfrm>
          <a:prstGeom prst="rect">
            <a:avLst/>
          </a:prstGeom>
          <a:noFill/>
        </p:spPr>
        <p:txBody>
          <a:bodyPr wrap="square" rtlCol="0">
            <a:spAutoFit/>
          </a:bodyPr>
          <a:lstStyle/>
          <a:p>
            <a:pPr algn="ctr"/>
            <a:r>
              <a:rPr lang="en-US" sz="1400" b="1" dirty="0">
                <a:solidFill>
                  <a:srgbClr val="1F1F1F"/>
                </a:solidFill>
                <a:effectLst/>
                <a:latin typeface="Bangla MN" pitchFamily="2" charset="0"/>
                <a:cs typeface="Bangla MN" pitchFamily="2" charset="0"/>
              </a:rPr>
              <a:t>Ali Al-</a:t>
            </a:r>
            <a:r>
              <a:rPr lang="en-US" sz="1400" b="1" dirty="0" err="1">
                <a:solidFill>
                  <a:srgbClr val="1F1F1F"/>
                </a:solidFill>
                <a:effectLst/>
                <a:latin typeface="Bangla MN" pitchFamily="2" charset="0"/>
                <a:cs typeface="Bangla MN" pitchFamily="2" charset="0"/>
              </a:rPr>
              <a:t>Sinayyid</a:t>
            </a:r>
            <a:endParaRPr lang="en-US" sz="1400" b="1" dirty="0">
              <a:solidFill>
                <a:srgbClr val="1F1F1F"/>
              </a:solidFill>
              <a:effectLst/>
              <a:latin typeface="Bangla MN" pitchFamily="2" charset="0"/>
              <a:cs typeface="Bangla MN" pitchFamily="2" charset="0"/>
            </a:endParaRPr>
          </a:p>
          <a:p>
            <a:pPr algn="ctr"/>
            <a:r>
              <a:rPr lang="en-US" sz="1400" b="1" u="sng" dirty="0">
                <a:solidFill>
                  <a:srgbClr val="00B0F0"/>
                </a:solidFill>
                <a:effectLst/>
                <a:latin typeface="Bangla MN" pitchFamily="2" charset="0"/>
                <a:cs typeface="Bangla MN" pitchFamily="2" charset="0"/>
                <a:hlinkClick r:id="rId4">
                  <a:extLst>
                    <a:ext uri="{A12FA001-AC4F-418D-AE19-62706E023703}">
                      <ahyp:hlinkClr xmlns:ahyp="http://schemas.microsoft.com/office/drawing/2018/hyperlinkcolor" val="tx"/>
                    </a:ext>
                  </a:extLst>
                </a:hlinkClick>
              </a:rPr>
              <a:t>ali.alsinayyid@wvstateu.edu</a:t>
            </a:r>
            <a:endParaRPr lang="en-US" sz="1400" b="1" dirty="0">
              <a:solidFill>
                <a:srgbClr val="00B0F0"/>
              </a:solidFill>
              <a:effectLst/>
              <a:latin typeface="Bangla MN" pitchFamily="2" charset="0"/>
              <a:cs typeface="Bangla MN" pitchFamily="2" charset="0"/>
            </a:endParaRPr>
          </a:p>
          <a:p>
            <a:pPr algn="ctr"/>
            <a:endParaRPr lang="en-US" sz="1400" b="1" dirty="0">
              <a:latin typeface="Bangla MN" pitchFamily="2" charset="0"/>
              <a:cs typeface="Bangla MN" pitchFamily="2" charset="0"/>
            </a:endParaRPr>
          </a:p>
          <a:p>
            <a:endParaRPr lang="en-US" sz="1400" dirty="0"/>
          </a:p>
        </p:txBody>
      </p:sp>
      <p:sp>
        <p:nvSpPr>
          <p:cNvPr id="6" name="TextBox 5">
            <a:extLst>
              <a:ext uri="{FF2B5EF4-FFF2-40B4-BE49-F238E27FC236}">
                <a16:creationId xmlns:a16="http://schemas.microsoft.com/office/drawing/2014/main" id="{45108AF5-C40E-B939-D339-6B10DF6C65BD}"/>
              </a:ext>
            </a:extLst>
          </p:cNvPr>
          <p:cNvSpPr txBox="1"/>
          <p:nvPr/>
        </p:nvSpPr>
        <p:spPr>
          <a:xfrm>
            <a:off x="4968240" y="4191000"/>
            <a:ext cx="2590800" cy="523220"/>
          </a:xfrm>
          <a:prstGeom prst="rect">
            <a:avLst/>
          </a:prstGeom>
          <a:noFill/>
        </p:spPr>
        <p:txBody>
          <a:bodyPr wrap="square" rtlCol="0">
            <a:spAutoFit/>
          </a:bodyPr>
          <a:lstStyle/>
          <a:p>
            <a:pPr algn="ctr"/>
            <a:r>
              <a:rPr lang="en-US" sz="1400" b="1" dirty="0">
                <a:solidFill>
                  <a:srgbClr val="1F1F1F"/>
                </a:solidFill>
                <a:latin typeface="Bangla MN" pitchFamily="2" charset="0"/>
                <a:cs typeface="Bangla MN" pitchFamily="2" charset="0"/>
              </a:rPr>
              <a:t>Shikhar Pandey</a:t>
            </a:r>
          </a:p>
          <a:p>
            <a:pPr algn="ctr"/>
            <a:r>
              <a:rPr lang="en-US" sz="1400" b="1" dirty="0" err="1">
                <a:solidFill>
                  <a:srgbClr val="00B0F0"/>
                </a:solidFill>
                <a:effectLst/>
                <a:latin typeface="Bangla MN" pitchFamily="2" charset="0"/>
                <a:cs typeface="Bangla MN" pitchFamily="2" charset="0"/>
              </a:rPr>
              <a:t>spandey@wvstateu.edu</a:t>
            </a:r>
            <a:endParaRPr lang="en-US" sz="1400" b="1" dirty="0">
              <a:solidFill>
                <a:srgbClr val="00B0F0"/>
              </a:solidFill>
              <a:effectLst/>
              <a:latin typeface="Bangla MN" pitchFamily="2" charset="0"/>
              <a:cs typeface="Bangla MN" pitchFamily="2" charset="0"/>
            </a:endParaRPr>
          </a:p>
        </p:txBody>
      </p:sp>
    </p:spTree>
    <p:extLst>
      <p:ext uri="{BB962C8B-B14F-4D97-AF65-F5344CB8AC3E}">
        <p14:creationId xmlns:p14="http://schemas.microsoft.com/office/powerpoint/2010/main" val="698212734"/>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{EDACE60E-02EC-FE48-88D6-D4349B755A3D}tf10001072</Template>
  <TotalTime>194</TotalTime>
  <Words>384</Words>
  <Application>Microsoft Macintosh PowerPoint</Application>
  <PresentationFormat>On-screen Show (4:3)</PresentationFormat>
  <Paragraphs>57</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Bangla MN</vt:lpstr>
      <vt:lpstr>Calibri</vt:lpstr>
      <vt:lpstr>Franklin Gothic Book</vt:lpstr>
      <vt:lpstr>Crop</vt:lpstr>
      <vt:lpstr>Detection of Identity Theft in Critical Sectors: A Comprehensive Review</vt:lpstr>
      <vt:lpstr>Introduction</vt:lpstr>
      <vt:lpstr>The Core Problem</vt:lpstr>
      <vt:lpstr>Current Gap </vt:lpstr>
      <vt:lpstr>Research Objectives</vt:lpstr>
      <vt:lpstr>Methodology</vt:lpstr>
      <vt:lpstr>PowerPoint Presentation</vt:lpstr>
      <vt:lpstr>Key Finding</vt:lpstr>
      <vt:lpstr>Conclusion</vt:lpstr>
      <vt:lpstr>CURENTLY FOCUS </vt:lpstr>
      <vt:lpstr>PowerPoint Presentation</vt:lpstr>
      <vt:lpstr>For  Collaboration</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Detection of Identity Theft in Critical Sectors: A Comprehensive Review</dc:title>
  <dc:subject/>
  <dc:creator/>
  <cp:keywords/>
  <dc:description>generated using python-pptx</dc:description>
  <cp:lastModifiedBy>07shikharpandey@gmail.com</cp:lastModifiedBy>
  <cp:revision>6</cp:revision>
  <dcterms:created xsi:type="dcterms:W3CDTF">2013-01-27T09:14:16Z</dcterms:created>
  <dcterms:modified xsi:type="dcterms:W3CDTF">2025-12-05T22:15:45Z</dcterms:modified>
  <cp:category/>
</cp:coreProperties>
</file>